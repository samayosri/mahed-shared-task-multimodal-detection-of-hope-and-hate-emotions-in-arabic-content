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5" r:id="rId6"/>
    <p:sldId id="263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0"/>
    <p:restoredTop sz="95896" autoAdjust="0"/>
  </p:normalViewPr>
  <p:slideViewPr>
    <p:cSldViewPr snapToGrid="0" snapToObjects="1">
      <p:cViewPr varScale="1">
        <p:scale>
          <a:sx n="109" d="100"/>
          <a:sy n="109" d="100"/>
        </p:scale>
        <p:origin x="100" y="3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11" Type="http://schemas.openxmlformats.org/officeDocument/2006/relationships/image" Target="../media/image17.png"/><Relationship Id="rId5" Type="http://schemas.openxmlformats.org/officeDocument/2006/relationships/image" Target="../media/image11.png"/><Relationship Id="rId10" Type="http://schemas.openxmlformats.org/officeDocument/2006/relationships/image" Target="../media/image16.png"/><Relationship Id="rId4" Type="http://schemas.openxmlformats.org/officeDocument/2006/relationships/image" Target="../media/image10.png"/><Relationship Id="rId9" Type="http://schemas.openxmlformats.org/officeDocument/2006/relationships/image" Target="../media/image15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191791"/>
            <a:ext cx="3186112" cy="29527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71500" y="2715666"/>
            <a:ext cx="11601450" cy="12266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4830"/>
              </a:lnSpc>
            </a:pPr>
            <a:r>
              <a:rPr sz="4200" b="1" i="0" u="none">
                <a:solidFill>
                  <a:srgbClr val="0F172A"/>
                </a:solidFill>
                <a:latin typeface="Poppins"/>
              </a:rPr>
              <a:t>Embedding Comparison &amp; Class-Imbalance Framework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71500" y="4132808"/>
            <a:ext cx="8572500" cy="533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100"/>
              </a:lnSpc>
            </a:pPr>
            <a:r>
              <a:rPr sz="1500" b="0" i="0" u="none">
                <a:solidFill>
                  <a:srgbClr val="0D9488"/>
                </a:solidFill>
                <a:latin typeface="Inter Medium"/>
              </a:rPr>
              <a:t>Head-to-head evaluation of Dialectal LMs (MARBERT vs. AraBERT) and leak-free generative training augmentations via Back-Translation &amp; Dialect Paraphrasing.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513558"/>
            <a:ext cx="5353050" cy="250507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7450" y="2513558"/>
            <a:ext cx="5353050" cy="250507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2818358"/>
            <a:ext cx="4940617" cy="3143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0" i="0" u="none">
                <a:solidFill>
                  <a:srgbClr val="0F172A"/>
                </a:solidFill>
                <a:latin typeface="Poppins SemiBold"/>
              </a:rPr>
              <a:t>1. Model Comparison Pillar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227933"/>
            <a:ext cx="470535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334155"/>
                </a:solidFill>
                <a:latin typeface="Inter"/>
              </a:rPr>
              <a:t>Introduced </a:t>
            </a:r>
            <a:r>
              <a:rPr sz="1200" b="1" i="0" u="none">
                <a:solidFill>
                  <a:srgbClr val="334155"/>
                </a:solidFill>
                <a:latin typeface="Inter"/>
              </a:rPr>
              <a:t>UBC-NLP/MARBERT</a:t>
            </a:r>
            <a:r>
              <a:rPr sz="1200" b="0" i="0" u="none">
                <a:solidFill>
                  <a:srgbClr val="334155"/>
                </a:solidFill>
                <a:latin typeface="Inter"/>
              </a:rPr>
              <a:t> (pre-trained on ~1B dialectal Arabic tweets) as a direct head-to-head competitor to the </a:t>
            </a:r>
            <a:r>
              <a:rPr sz="1200" b="1" i="0" u="none">
                <a:solidFill>
                  <a:srgbClr val="334155"/>
                </a:solidFill>
                <a:latin typeface="Inter"/>
              </a:rPr>
              <a:t>AraBERT-twitter</a:t>
            </a:r>
            <a:r>
              <a:rPr sz="1200" b="0" i="0" u="none">
                <a:solidFill>
                  <a:srgbClr val="334155"/>
                </a:solidFill>
                <a:latin typeface="Inter"/>
              </a:rPr>
              <a:t> baseline.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028033"/>
            <a:ext cx="470535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334155"/>
                </a:solidFill>
                <a:latin typeface="Inter"/>
              </a:rPr>
              <a:t>Evaluated mean-pooled feature representations using an identical Logistic Regression classifier across Emotion (12-class), Offensive (binary), and Hate (conditional binary) tasks.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10350" y="2818358"/>
            <a:ext cx="4940617" cy="3143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0" i="0" u="none">
                <a:solidFill>
                  <a:srgbClr val="0F172A"/>
                </a:solidFill>
                <a:latin typeface="Poppins SemiBold"/>
              </a:rPr>
              <a:t>2. Class Imbalance Pillar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10350" y="3227933"/>
            <a:ext cx="470535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334155"/>
                </a:solidFill>
                <a:latin typeface="Inter"/>
              </a:rPr>
              <a:t>Designed a rigorous training-set augmentation framework to address severe multi-class and binary skew (Emotion 29x gap, Hate 4.8x gap) without test set data leakage.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10350" y="4028033"/>
            <a:ext cx="4705350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334155"/>
                </a:solidFill>
                <a:latin typeface="Inter"/>
              </a:rPr>
              <a:t>Benchmarked three distinct strategies: Random Under-sampling, MarianMT Back-Translation (Ar↔En), and Meta NLLB-200 Dialect-to-Dialect Translation.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1500" y="476250"/>
            <a:ext cx="11601450" cy="3885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3060"/>
              </a:lnSpc>
            </a:pPr>
            <a:r>
              <a:rPr sz="2550" b="1" i="0" u="none">
                <a:solidFill>
                  <a:srgbClr val="0F172A"/>
                </a:solidFill>
                <a:latin typeface="Poppins"/>
              </a:rPr>
              <a:t>Phase 2 Core Objectives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571500" y="2184945"/>
            <a:ext cx="11049000" cy="3162300"/>
          </a:xfrm>
          <a:prstGeom prst="roundRect">
            <a:avLst>
              <a:gd name="adj" fmla="val 0"/>
            </a:avLst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71500" y="2184945"/>
          <a:ext cx="11048998" cy="31623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817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0528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1629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45923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27050"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FFFFFF"/>
                          </a:solidFill>
                          <a:latin typeface="Poppins SemiBold"/>
                        </a:rPr>
                        <a:t>Architectural Metric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FFFFFF"/>
                          </a:solidFill>
                          <a:latin typeface="Poppins SemiBold"/>
                        </a:rPr>
                        <a:t>AraBERT-twitter (Baseline)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FFFFFF"/>
                          </a:solidFill>
                          <a:latin typeface="Poppins SemiBold"/>
                        </a:rPr>
                        <a:t>MARBERT (UBC-NLP)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FFFFFF"/>
                          </a:solidFill>
                          <a:latin typeface="Poppins SemiBold"/>
                        </a:rPr>
                        <a:t>Advantage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7050"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334155"/>
                          </a:solidFill>
                          <a:latin typeface="Inter"/>
                        </a:rPr>
                        <a:t>Pre-training Corpus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334155"/>
                          </a:solidFill>
                          <a:latin typeface="Inter"/>
                        </a:rPr>
                        <a:t>2.5B tokens (Twitter + News)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334155"/>
                          </a:solidFill>
                          <a:latin typeface="Inter"/>
                        </a:rPr>
                        <a:t>15.6B tokens (~1B Arabic Tweets)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334155"/>
                          </a:solidFill>
                          <a:latin typeface="Inter"/>
                        </a:rPr>
                        <a:t>6x Larger Dialect Corpus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7050"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334155"/>
                          </a:solidFill>
                          <a:latin typeface="Inter"/>
                        </a:rPr>
                        <a:t>Vocabulary &amp; Tokenizer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334155"/>
                          </a:solidFill>
                          <a:latin typeface="Inter"/>
                        </a:rPr>
                        <a:t>60K SentencePiece (MSA focus)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334155"/>
                          </a:solidFill>
                          <a:latin typeface="Inter"/>
                        </a:rPr>
                        <a:t>100K WordPiece (Dialect native)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334155"/>
                          </a:solidFill>
                          <a:latin typeface="Inter"/>
                        </a:rPr>
                        <a:t>Superior Dialect Subwords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7050"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334155"/>
                          </a:solidFill>
                          <a:latin typeface="Inter"/>
                        </a:rPr>
                        <a:t>Emotion Task (Macro-F1)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334155"/>
                          </a:solidFill>
                          <a:latin typeface="Inter"/>
                        </a:rPr>
                        <a:t>31.4% (Feature Baseline)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334155"/>
                          </a:solidFill>
                          <a:latin typeface="Inter"/>
                        </a:rPr>
                        <a:t>33.8% (Mean-pooled features)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334155"/>
                          </a:solidFill>
                          <a:latin typeface="Inter"/>
                        </a:rPr>
                        <a:t>+2.4% F1 Gain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27050"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334155"/>
                          </a:solidFill>
                          <a:latin typeface="Inter"/>
                        </a:rPr>
                        <a:t>Offensive Task (Macro-F1)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334155"/>
                          </a:solidFill>
                          <a:latin typeface="Inter"/>
                        </a:rPr>
                        <a:t>78.2% (Balanced LR)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334155"/>
                          </a:solidFill>
                          <a:latin typeface="Inter"/>
                        </a:rPr>
                        <a:t>80.1% (Balanced LR)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334155"/>
                          </a:solidFill>
                          <a:latin typeface="Inter"/>
                        </a:rPr>
                        <a:t>+1.9% F1 Gain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27050"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334155"/>
                          </a:solidFill>
                          <a:latin typeface="Inter"/>
                        </a:rPr>
                        <a:t>Hate Speech (Macro-F1)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334155"/>
                          </a:solidFill>
                          <a:latin typeface="Inter"/>
                        </a:rPr>
                        <a:t>64.5% (Balanced LR)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334155"/>
                          </a:solidFill>
                          <a:latin typeface="Inter"/>
                        </a:rPr>
                        <a:t>66.8% (Balanced LR)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125" b="0" i="0" u="none">
                          <a:solidFill>
                            <a:srgbClr val="334155"/>
                          </a:solidFill>
                          <a:latin typeface="Inter"/>
                        </a:rPr>
                        <a:t>+2.3% F1 Gain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571500" y="3218408"/>
            <a:ext cx="256817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139678" y="3218408"/>
            <a:ext cx="3005286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144964" y="3218408"/>
            <a:ext cx="301629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9161264" y="3218408"/>
            <a:ext cx="245923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71500" y="3747045"/>
            <a:ext cx="256817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3139678" y="3747045"/>
            <a:ext cx="3005286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144964" y="3747045"/>
            <a:ext cx="301629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9161264" y="3747045"/>
            <a:ext cx="245923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571500" y="4275683"/>
            <a:ext cx="256817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3139678" y="4275683"/>
            <a:ext cx="3005286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144964" y="4275683"/>
            <a:ext cx="301629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9161264" y="4275683"/>
            <a:ext cx="245923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571500" y="4804320"/>
            <a:ext cx="256817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3139678" y="4804320"/>
            <a:ext cx="3005286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144964" y="4804320"/>
            <a:ext cx="301629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9161264" y="4804320"/>
            <a:ext cx="245923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571500" y="5332958"/>
            <a:ext cx="2568178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3139678" y="5332958"/>
            <a:ext cx="3005286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144964" y="5332958"/>
            <a:ext cx="3016299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9161264" y="5332958"/>
            <a:ext cx="245923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51764" y="2846933"/>
            <a:ext cx="1647825" cy="228600"/>
          </a:xfrm>
          <a:prstGeom prst="rect">
            <a:avLst/>
          </a:prstGeom>
        </p:spPr>
      </p:pic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51764" y="3375570"/>
            <a:ext cx="1762125" cy="228600"/>
          </a:xfrm>
          <a:prstGeom prst="rect">
            <a:avLst/>
          </a:prstGeom>
        </p:spPr>
      </p:pic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51764" y="3904208"/>
            <a:ext cx="1057275" cy="228600"/>
          </a:xfrm>
          <a:prstGeom prst="rect">
            <a:avLst/>
          </a:prstGeom>
        </p:spPr>
      </p:pic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51764" y="4432845"/>
            <a:ext cx="1028700" cy="228600"/>
          </a:xfrm>
          <a:prstGeom prst="rect">
            <a:avLst/>
          </a:prstGeom>
        </p:spPr>
      </p:pic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351764" y="4961483"/>
            <a:ext cx="1047750" cy="2286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571500" y="476250"/>
            <a:ext cx="11601450" cy="3885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3060"/>
              </a:lnSpc>
            </a:pPr>
            <a:r>
              <a:rPr sz="2550" b="1" i="0" u="none">
                <a:solidFill>
                  <a:srgbClr val="0F172A"/>
                </a:solidFill>
                <a:latin typeface="Poppins"/>
              </a:rPr>
              <a:t>AraBERT vs. MARBERT Comparison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2370683"/>
            <a:ext cx="3530649" cy="279082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30749" y="2370683"/>
            <a:ext cx="3530649" cy="279082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89999" y="2370683"/>
            <a:ext cx="3530649" cy="279082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09625" y="2646908"/>
            <a:ext cx="476250" cy="47625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9625" y="3313658"/>
            <a:ext cx="3207119" cy="3143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0" i="0" u="none">
                <a:solidFill>
                  <a:srgbClr val="0F172A"/>
                </a:solidFill>
                <a:latin typeface="Poppins SemiBold"/>
              </a:rPr>
              <a:t>1. Under-Sampling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9625" y="3723233"/>
            <a:ext cx="3054399" cy="1143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334155"/>
                </a:solidFill>
                <a:latin typeface="Inter"/>
              </a:rPr>
              <a:t>Randomly drops majority class samples down toward minority counts in the training split. Fast computation, but risks losing critical semantic variety in complex tail classes.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68874" y="2646908"/>
            <a:ext cx="476250" cy="47625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568874" y="3313658"/>
            <a:ext cx="3207119" cy="3143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0" i="0" u="none">
                <a:solidFill>
                  <a:srgbClr val="0F172A"/>
                </a:solidFill>
                <a:latin typeface="Poppins SemiBold"/>
              </a:rPr>
              <a:t>2. Back-Translation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68874" y="3723233"/>
            <a:ext cx="3054399" cy="1143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334155"/>
                </a:solidFill>
                <a:latin typeface="Inter"/>
              </a:rPr>
              <a:t>Uses </a:t>
            </a:r>
            <a:r>
              <a:rPr sz="1200" b="1" i="0" u="none">
                <a:solidFill>
                  <a:srgbClr val="334155"/>
                </a:solidFill>
                <a:latin typeface="Inter"/>
              </a:rPr>
              <a:t>Helsinki-NLP MarianMT</a:t>
            </a:r>
            <a:r>
              <a:rPr sz="1200" b="0" i="0" u="none">
                <a:solidFill>
                  <a:srgbClr val="334155"/>
                </a:solidFill>
                <a:latin typeface="Inter"/>
              </a:rPr>
              <a:t> (Ar→En→Ar) to translate minority training rows round-trip, creating semantically identical paraphrases while preserving exact original labels.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28124" y="2646908"/>
            <a:ext cx="476250" cy="47625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328124" y="3313658"/>
            <a:ext cx="3207119" cy="3143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50" b="0" i="0" u="none">
                <a:solidFill>
                  <a:srgbClr val="0F172A"/>
                </a:solidFill>
                <a:latin typeface="Poppins SemiBold"/>
              </a:rPr>
              <a:t>3. Dialect Paraphrase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28124" y="3723233"/>
            <a:ext cx="3054399" cy="1162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 i="0" u="none">
                <a:solidFill>
                  <a:srgbClr val="334155"/>
                </a:solidFill>
                <a:latin typeface="Inter"/>
              </a:rPr>
              <a:t>Leverages </a:t>
            </a:r>
            <a:r>
              <a:rPr sz="1200" b="1" i="0" u="none">
                <a:solidFill>
                  <a:srgbClr val="334155"/>
                </a:solidFill>
                <a:latin typeface="Inter"/>
              </a:rPr>
              <a:t>Meta NLLB-200</a:t>
            </a:r>
            <a:r>
              <a:rPr sz="1200" b="0" i="0" u="none">
                <a:solidFill>
                  <a:srgbClr val="334155"/>
                </a:solidFill>
                <a:latin typeface="Inter"/>
              </a:rPr>
              <a:t> with explicit FLORES codes (e.g. Egyptian arz_Arab ↔ Najdi Gulf ars_Arab) to generate realistic regional paraphrases for rare labels.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33450" y="2770733"/>
            <a:ext cx="228600" cy="22860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664124" y="2770733"/>
            <a:ext cx="285750" cy="22860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423374" y="2770733"/>
            <a:ext cx="285750" cy="2286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571500" y="476250"/>
            <a:ext cx="11601450" cy="3885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3060"/>
              </a:lnSpc>
            </a:pPr>
            <a:r>
              <a:rPr sz="2550" b="1" i="0" u="none">
                <a:solidFill>
                  <a:srgbClr val="0F172A"/>
                </a:solidFill>
                <a:latin typeface="Poppins"/>
              </a:rPr>
              <a:t>Class-Imbalance Framework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376156" y="-253670"/>
            <a:ext cx="1827638" cy="1376989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891641" y="422146"/>
            <a:ext cx="645368" cy="645368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10043482" y="655140"/>
            <a:ext cx="687472" cy="687472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9356643" y="0"/>
            <a:ext cx="2835357" cy="148083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8" name="Isosceles Triangle 17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976344" y="6115501"/>
            <a:ext cx="1494513" cy="742499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7BF40CF-AF57-C409-BCD6-FF862ACC2A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17175" y="1105650"/>
            <a:ext cx="5957308" cy="4646700"/>
          </a:xfrm>
          <a:prstGeom prst="rect">
            <a:avLst/>
          </a:prstGeom>
          <a:ln>
            <a:noFill/>
          </a:ln>
        </p:spPr>
      </p:pic>
      <p:sp>
        <p:nvSpPr>
          <p:cNvPr id="20" name="Isosceles Triangle 19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7604080" y="6453143"/>
            <a:ext cx="814903" cy="404857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19595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1500" y="4004220"/>
            <a:ext cx="2541240" cy="162877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94493" y="4013745"/>
            <a:ext cx="2541240" cy="1628775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07422" y="1965870"/>
            <a:ext cx="2541240" cy="1628775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79259" y="1899195"/>
            <a:ext cx="2541240" cy="1628775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71500" y="3747045"/>
            <a:ext cx="11049000" cy="3810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17995" y="4204245"/>
            <a:ext cx="2248249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50" b="0" i="0" u="none">
                <a:solidFill>
                  <a:srgbClr val="0284C7"/>
                </a:solidFill>
                <a:latin typeface="Poppins SemiBold"/>
              </a:rPr>
              <a:t>Q1 - Fine-Tuning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1525" y="4518570"/>
            <a:ext cx="214119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800"/>
              </a:lnSpc>
            </a:pPr>
            <a:r>
              <a:rPr sz="1200" b="0" i="0" u="none" dirty="0">
                <a:solidFill>
                  <a:srgbClr val="334155"/>
                </a:solidFill>
                <a:latin typeface="Inter"/>
              </a:rPr>
              <a:t>Unfreeze transformer weights for end-to-end MARBERT fine-tuning instead of frozen feature extraction.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40989" y="4213770"/>
            <a:ext cx="2248249" cy="20774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50" b="0" i="0" u="none" dirty="0">
                <a:solidFill>
                  <a:srgbClr val="0284C7"/>
                </a:solidFill>
                <a:latin typeface="Poppins SemiBold"/>
              </a:rPr>
              <a:t>Q</a:t>
            </a:r>
            <a:r>
              <a:rPr lang="en-US" sz="1350" b="0" i="0" u="none" dirty="0">
                <a:solidFill>
                  <a:srgbClr val="0284C7"/>
                </a:solidFill>
                <a:latin typeface="Poppins SemiBold"/>
              </a:rPr>
              <a:t>3</a:t>
            </a:r>
            <a:r>
              <a:rPr sz="1350" b="0" i="0" u="none" dirty="0">
                <a:solidFill>
                  <a:srgbClr val="0284C7"/>
                </a:solidFill>
                <a:latin typeface="Poppins SemiBold"/>
              </a:rPr>
              <a:t> </a:t>
            </a:r>
            <a:r>
              <a:rPr lang="en-US" sz="1350" b="0" i="0" u="none" dirty="0">
                <a:solidFill>
                  <a:srgbClr val="0284C7"/>
                </a:solidFill>
                <a:latin typeface="Poppins SemiBold"/>
              </a:rPr>
              <a:t>–</a:t>
            </a:r>
            <a:r>
              <a:rPr sz="1350" b="0" i="0" u="none" dirty="0">
                <a:solidFill>
                  <a:srgbClr val="0284C7"/>
                </a:solidFill>
                <a:latin typeface="Poppins SemiBold"/>
              </a:rPr>
              <a:t> </a:t>
            </a:r>
            <a:r>
              <a:rPr lang="en-US" sz="1350" b="0" i="0" u="none" dirty="0">
                <a:solidFill>
                  <a:srgbClr val="0284C7"/>
                </a:solidFill>
                <a:latin typeface="Poppins SemiBold"/>
              </a:rPr>
              <a:t>Sequence Context</a:t>
            </a:r>
            <a:endParaRPr sz="1350" b="0" i="0" u="none" dirty="0">
              <a:solidFill>
                <a:srgbClr val="0284C7"/>
              </a:solidFill>
              <a:latin typeface="Poppins SemiBold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494518" y="4528095"/>
            <a:ext cx="2141190" cy="59875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576"/>
              </a:lnSpc>
              <a:buNone/>
            </a:pPr>
            <a:r>
              <a:rPr lang="en-US" sz="1200" spc="-1" dirty="0">
                <a:solidFill>
                  <a:srgbClr val="64748B"/>
                </a:solidFill>
                <a:latin typeface="Inter"/>
              </a:rPr>
              <a:t> Moving from averaging words to processing words in order to better capture the context.</a:t>
            </a:r>
            <a:endParaRPr lang="en-US" sz="1200" spc="-1" dirty="0">
              <a:latin typeface="Arial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3553918" y="2165895"/>
            <a:ext cx="2248249" cy="4154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50" b="0" i="0" u="none" dirty="0">
                <a:solidFill>
                  <a:srgbClr val="0284C7"/>
                </a:solidFill>
                <a:latin typeface="Poppins SemiBold"/>
              </a:rPr>
              <a:t>Q</a:t>
            </a:r>
            <a:r>
              <a:rPr lang="en-US" sz="1350" b="0" i="0" u="none" dirty="0">
                <a:solidFill>
                  <a:srgbClr val="0284C7"/>
                </a:solidFill>
                <a:latin typeface="Poppins SemiBold"/>
              </a:rPr>
              <a:t>2</a:t>
            </a:r>
            <a:r>
              <a:rPr sz="1350" b="0" i="0" u="none" dirty="0">
                <a:solidFill>
                  <a:srgbClr val="0284C7"/>
                </a:solidFill>
                <a:latin typeface="Poppins SemiBold"/>
              </a:rPr>
              <a:t> </a:t>
            </a:r>
            <a:r>
              <a:rPr lang="en-US" sz="1350" b="0" i="0" u="none" dirty="0">
                <a:solidFill>
                  <a:srgbClr val="0284C7"/>
                </a:solidFill>
                <a:latin typeface="Poppins SemiBold"/>
              </a:rPr>
              <a:t>–</a:t>
            </a:r>
            <a:r>
              <a:rPr sz="1350" b="0" i="0" u="none" dirty="0">
                <a:solidFill>
                  <a:srgbClr val="0284C7"/>
                </a:solidFill>
                <a:latin typeface="Poppins SemiBold"/>
              </a:rPr>
              <a:t> </a:t>
            </a:r>
            <a:r>
              <a:rPr lang="en-US" sz="1350" b="0" i="0" u="none" dirty="0">
                <a:solidFill>
                  <a:srgbClr val="0284C7"/>
                </a:solidFill>
                <a:latin typeface="Poppins SemiBold"/>
              </a:rPr>
              <a:t>Advance</a:t>
            </a:r>
            <a:r>
              <a:rPr lang="en-US" sz="1350" dirty="0">
                <a:solidFill>
                  <a:srgbClr val="0284C7"/>
                </a:solidFill>
                <a:latin typeface="Poppins SemiBold"/>
              </a:rPr>
              <a:t>d Deep Learning</a:t>
            </a:r>
            <a:endParaRPr sz="1350" b="0" i="0" u="none" dirty="0">
              <a:solidFill>
                <a:srgbClr val="0284C7"/>
              </a:solidFill>
              <a:latin typeface="Poppins SemiBold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3562380" y="2657593"/>
            <a:ext cx="2141190" cy="6754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800"/>
              </a:lnSpc>
            </a:pPr>
            <a:r>
              <a:rPr lang="en-US" sz="1200" dirty="0"/>
              <a:t>Using more sophisticated neural networks rather than just linear classifier</a:t>
            </a:r>
            <a:endParaRPr sz="1200" b="0" i="0" u="none" dirty="0">
              <a:solidFill>
                <a:srgbClr val="334155"/>
              </a:solidFill>
              <a:latin typeface="Inter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9225755" y="2099220"/>
            <a:ext cx="2248249" cy="2571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350" b="0" i="0" u="none">
                <a:solidFill>
                  <a:srgbClr val="0284C7"/>
                </a:solidFill>
                <a:latin typeface="Poppins SemiBold"/>
              </a:rPr>
              <a:t>Q4 - Multi-Task Head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279284" y="2413545"/>
            <a:ext cx="214119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800"/>
              </a:lnSpc>
            </a:pPr>
            <a:r>
              <a:rPr sz="1200" b="0" i="0" u="none">
                <a:solidFill>
                  <a:srgbClr val="334155"/>
                </a:solidFill>
                <a:latin typeface="Inter"/>
              </a:rPr>
              <a:t>Deploy a joint multi-head architecture predicting Emotion, Offensive, and Hate labels simultaneously.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1500" y="476250"/>
            <a:ext cx="11601450" cy="38859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3060"/>
              </a:lnSpc>
            </a:pPr>
            <a:r>
              <a:rPr lang="en-US" sz="2550" b="1" i="0" u="none" dirty="0">
                <a:solidFill>
                  <a:srgbClr val="0F172A"/>
                </a:solidFill>
                <a:latin typeface="Poppins"/>
              </a:rPr>
              <a:t>Next Steps……</a:t>
            </a:r>
            <a:endParaRPr sz="2550" b="1" i="0" u="none" dirty="0">
              <a:solidFill>
                <a:srgbClr val="0F172A"/>
              </a:solidFill>
              <a:latin typeface="Poppins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1746870" y="3670845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8100">
            <a:solidFill>
              <a:srgbClr val="0284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4582790" y="3670845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8100">
            <a:solidFill>
              <a:srgbClr val="0284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7418709" y="3670845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8100">
            <a:solidFill>
              <a:srgbClr val="0284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10254629" y="3670845"/>
            <a:ext cx="190500" cy="1905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38100">
            <a:solidFill>
              <a:srgbClr val="0284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42</TotalTime>
  <Words>434</Words>
  <Application>Microsoft Office PowerPoint</Application>
  <PresentationFormat>Widescreen</PresentationFormat>
  <Paragraphs>50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3" baseType="lpstr">
      <vt:lpstr>Arial</vt:lpstr>
      <vt:lpstr>Calibri</vt:lpstr>
      <vt:lpstr>Inter</vt:lpstr>
      <vt:lpstr>Inter Medium</vt:lpstr>
      <vt:lpstr>Poppins</vt:lpstr>
      <vt:lpstr>Poppins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احمد راجى حسين حافظ حسن</cp:lastModifiedBy>
  <cp:revision>5</cp:revision>
  <dcterms:created xsi:type="dcterms:W3CDTF">2013-01-27T09:14:16Z</dcterms:created>
  <dcterms:modified xsi:type="dcterms:W3CDTF">2026-09-08T20:05:37Z</dcterms:modified>
  <cp:category/>
</cp:coreProperties>
</file>